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smdcp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f32d44f1af64538" /><Relationship Type="http://schemas.openxmlformats.org/package/2006/relationships/metadata/core-properties" Target="/package/services/metadata/core-properties/f153878970eb4078b602809f94a7829e.psmdcp" Id="R63f4386c2ec3461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 algn="l">
        <a:defRPr sz="32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titleStyle>
    <p:body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bodyStyle>
    <p:other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otherStyle>
  </p:txStyles>
</p:sldMaster>
</file>

<file path=ppt/slideMasters/theme/theme1.xml><?xml version="1.0" encoding="utf-8"?>
<a:theme xmlns:a="http://schemas.openxmlformats.org/drawingml/2006/main" name="Mermaid2Pptx">
  <a:themeElements>
    <a:clrScheme name="Mermaid2Pptx">
      <a:dk1>
        <a:srgbClr val="111111"/>
      </a:dk1>
      <a:lt1>
        <a:srgbClr val="FFFFFF"/>
      </a:lt1>
      <a:dk2>
        <a:srgbClr val="444444"/>
      </a:dk2>
      <a:lt2>
        <a:srgbClr val="EEEEEE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ermai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rmaid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Mermaid Edge 2"/>
          <p:cNvSpPr/>
          <p:nvPr/>
        </p:nvSpPr>
        <p:spPr>
          <a:xfrm>
            <a:off x="2076398" y="1407902"/>
            <a:ext cx="1742879" cy="492373"/>
          </a:xfrm>
          <a:custGeom>
            <a:avLst/>
            <a:gdLst/>
            <a:ahLst/>
            <a:cxnLst/>
            <a:rect l="0" t="0" r="1742879" b="492373"/>
            <a:pathLst>
              <a:path w="1742879" h="492373">
                <a:moveTo>
                  <a:pt x="1742879" y="0"/>
                </a:moveTo>
                <a:lnTo>
                  <a:pt x="1452402" y="48729"/>
                </a:lnTo>
                <a:cubicBezTo>
                  <a:pt x="1161926" y="97448"/>
                  <a:pt x="580963" y="194906"/>
                  <a:pt x="290477" y="276961"/>
                </a:cubicBezTo>
                <a:cubicBezTo>
                  <a:pt x="0" y="359027"/>
                  <a:pt x="0" y="425700"/>
                  <a:pt x="0" y="459037"/>
                </a:cubicBezTo>
                <a:lnTo>
                  <a:pt x="0" y="49237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3" name="Mermaid Edge 3"/>
          <p:cNvSpPr/>
          <p:nvPr/>
        </p:nvSpPr>
        <p:spPr>
          <a:xfrm>
            <a:off x="5029074" y="1462136"/>
            <a:ext cx="1" cy="438139"/>
          </a:xfrm>
          <a:custGeom>
            <a:avLst/>
            <a:gdLst/>
            <a:ahLst/>
            <a:cxnLst/>
            <a:rect l="0" t="0" r="1" b="438139"/>
            <a:pathLst>
              <a:path w="1" h="438139">
                <a:moveTo>
                  <a:pt x="0" y="0"/>
                </a:moveTo>
                <a:lnTo>
                  <a:pt x="0" y="39690"/>
                </a:lnTo>
                <a:cubicBezTo>
                  <a:pt x="0" y="79370"/>
                  <a:pt x="0" y="158750"/>
                  <a:pt x="0" y="231766"/>
                </a:cubicBezTo>
                <a:cubicBezTo>
                  <a:pt x="0" y="304793"/>
                  <a:pt x="0" y="371466"/>
                  <a:pt x="0" y="404803"/>
                </a:cubicBezTo>
                <a:lnTo>
                  <a:pt x="0" y="43813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4" name="Mermaid Edge 4"/>
          <p:cNvSpPr/>
          <p:nvPr/>
        </p:nvSpPr>
        <p:spPr>
          <a:xfrm>
            <a:off x="6238871" y="1407902"/>
            <a:ext cx="1742879" cy="492373"/>
          </a:xfrm>
          <a:custGeom>
            <a:avLst/>
            <a:gdLst/>
            <a:ahLst/>
            <a:cxnLst/>
            <a:rect l="0" t="0" r="1742879" b="492373"/>
            <a:pathLst>
              <a:path w="1742879" h="492373">
                <a:moveTo>
                  <a:pt x="0" y="0"/>
                </a:moveTo>
                <a:lnTo>
                  <a:pt x="290477" y="48729"/>
                </a:lnTo>
                <a:cubicBezTo>
                  <a:pt x="580954" y="97448"/>
                  <a:pt x="1161916" y="194906"/>
                  <a:pt x="1452403" y="276961"/>
                </a:cubicBezTo>
                <a:cubicBezTo>
                  <a:pt x="1742879" y="359027"/>
                  <a:pt x="1742879" y="425700"/>
                  <a:pt x="1742879" y="459037"/>
                </a:cubicBezTo>
                <a:lnTo>
                  <a:pt x="1742879" y="492373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5" name="Mermaid Edge 5"/>
          <p:cNvSpPr/>
          <p:nvPr/>
        </p:nvSpPr>
        <p:spPr>
          <a:xfrm>
            <a:off x="2076398" y="2681306"/>
            <a:ext cx="1803085" cy="540568"/>
          </a:xfrm>
          <a:custGeom>
            <a:avLst/>
            <a:gdLst/>
            <a:ahLst/>
            <a:cxnLst/>
            <a:rect l="0" t="0" r="1803085" b="540568"/>
            <a:pathLst>
              <a:path w="1803085" h="540568">
                <a:moveTo>
                  <a:pt x="0" y="0"/>
                </a:moveTo>
                <a:lnTo>
                  <a:pt x="0" y="39690"/>
                </a:lnTo>
                <a:cubicBezTo>
                  <a:pt x="0" y="79370"/>
                  <a:pt x="0" y="158749"/>
                  <a:pt x="300516" y="248844"/>
                </a:cubicBezTo>
                <a:cubicBezTo>
                  <a:pt x="601032" y="338938"/>
                  <a:pt x="1202054" y="439758"/>
                  <a:pt x="1502569" y="490163"/>
                </a:cubicBezTo>
                <a:lnTo>
                  <a:pt x="1803085" y="540568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6" name="Mermaid Edge 6"/>
          <p:cNvSpPr/>
          <p:nvPr/>
        </p:nvSpPr>
        <p:spPr>
          <a:xfrm>
            <a:off x="5029074" y="2681306"/>
            <a:ext cx="1" cy="438139"/>
          </a:xfrm>
          <a:custGeom>
            <a:avLst/>
            <a:gdLst/>
            <a:ahLst/>
            <a:cxnLst/>
            <a:rect l="0" t="0" r="1" b="438139"/>
            <a:pathLst>
              <a:path w="1" h="438139">
                <a:moveTo>
                  <a:pt x="0" y="0"/>
                </a:moveTo>
                <a:lnTo>
                  <a:pt x="0" y="39690"/>
                </a:lnTo>
                <a:cubicBezTo>
                  <a:pt x="0" y="79370"/>
                  <a:pt x="0" y="158749"/>
                  <a:pt x="0" y="231766"/>
                </a:cubicBezTo>
                <a:cubicBezTo>
                  <a:pt x="0" y="304792"/>
                  <a:pt x="0" y="371466"/>
                  <a:pt x="0" y="404802"/>
                </a:cubicBezTo>
                <a:lnTo>
                  <a:pt x="0" y="43813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7" name="Mermaid Edge 7"/>
          <p:cNvSpPr/>
          <p:nvPr/>
        </p:nvSpPr>
        <p:spPr>
          <a:xfrm>
            <a:off x="6178665" y="2681306"/>
            <a:ext cx="1803085" cy="540568"/>
          </a:xfrm>
          <a:custGeom>
            <a:avLst/>
            <a:gdLst/>
            <a:ahLst/>
            <a:cxnLst/>
            <a:rect l="0" t="0" r="1803085" b="540568"/>
            <a:pathLst>
              <a:path w="1803085" h="540568">
                <a:moveTo>
                  <a:pt x="1803085" y="0"/>
                </a:moveTo>
                <a:lnTo>
                  <a:pt x="1803085" y="39690"/>
                </a:lnTo>
                <a:cubicBezTo>
                  <a:pt x="1803085" y="79370"/>
                  <a:pt x="1803085" y="158749"/>
                  <a:pt x="1502570" y="248844"/>
                </a:cubicBezTo>
                <a:cubicBezTo>
                  <a:pt x="1202054" y="338938"/>
                  <a:pt x="601032" y="439758"/>
                  <a:pt x="300516" y="490163"/>
                </a:cubicBezTo>
                <a:lnTo>
                  <a:pt x="0" y="540568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8" name="Mermaid Edge 8"/>
          <p:cNvSpPr/>
          <p:nvPr/>
        </p:nvSpPr>
        <p:spPr>
          <a:xfrm>
            <a:off x="2076398" y="3601245"/>
            <a:ext cx="1840660" cy="508775"/>
          </a:xfrm>
          <a:custGeom>
            <a:avLst/>
            <a:gdLst/>
            <a:ahLst/>
            <a:cxnLst/>
            <a:rect l="0" t="0" r="1840660" b="508775"/>
            <a:pathLst>
              <a:path w="1840660" h="508775">
                <a:moveTo>
                  <a:pt x="1840660" y="0"/>
                </a:moveTo>
                <a:lnTo>
                  <a:pt x="1533887" y="51463"/>
                </a:lnTo>
                <a:cubicBezTo>
                  <a:pt x="1227104" y="102915"/>
                  <a:pt x="613557" y="205840"/>
                  <a:pt x="306774" y="290629"/>
                </a:cubicBezTo>
                <a:cubicBezTo>
                  <a:pt x="0" y="375428"/>
                  <a:pt x="0" y="442102"/>
                  <a:pt x="0" y="475438"/>
                </a:cubicBezTo>
                <a:lnTo>
                  <a:pt x="0" y="508775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9" name="Mermaid Edge 9"/>
          <p:cNvSpPr/>
          <p:nvPr/>
        </p:nvSpPr>
        <p:spPr>
          <a:xfrm>
            <a:off x="5029074" y="3671881"/>
            <a:ext cx="1" cy="438139"/>
          </a:xfrm>
          <a:custGeom>
            <a:avLst/>
            <a:gdLst/>
            <a:ahLst/>
            <a:cxnLst/>
            <a:rect l="0" t="0" r="1" b="438139"/>
            <a:pathLst>
              <a:path w="1" h="438139">
                <a:moveTo>
                  <a:pt x="0" y="0"/>
                </a:moveTo>
                <a:lnTo>
                  <a:pt x="0" y="39690"/>
                </a:lnTo>
                <a:cubicBezTo>
                  <a:pt x="0" y="79370"/>
                  <a:pt x="0" y="158749"/>
                  <a:pt x="0" y="231766"/>
                </a:cubicBezTo>
                <a:cubicBezTo>
                  <a:pt x="0" y="304792"/>
                  <a:pt x="0" y="371466"/>
                  <a:pt x="0" y="404802"/>
                </a:cubicBezTo>
                <a:lnTo>
                  <a:pt x="0" y="43813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0" name="Mermaid Edge 10"/>
          <p:cNvSpPr/>
          <p:nvPr/>
        </p:nvSpPr>
        <p:spPr>
          <a:xfrm>
            <a:off x="6141090" y="3601245"/>
            <a:ext cx="1840660" cy="508775"/>
          </a:xfrm>
          <a:custGeom>
            <a:avLst/>
            <a:gdLst/>
            <a:ahLst/>
            <a:cxnLst/>
            <a:rect l="0" t="0" r="1840660" b="508775"/>
            <a:pathLst>
              <a:path w="1840660" h="508775">
                <a:moveTo>
                  <a:pt x="0" y="0"/>
                </a:moveTo>
                <a:lnTo>
                  <a:pt x="306774" y="51463"/>
                </a:lnTo>
                <a:cubicBezTo>
                  <a:pt x="613557" y="102915"/>
                  <a:pt x="1227104" y="205840"/>
                  <a:pt x="1533887" y="290629"/>
                </a:cubicBezTo>
                <a:cubicBezTo>
                  <a:pt x="1840660" y="375428"/>
                  <a:pt x="1840660" y="442102"/>
                  <a:pt x="1840660" y="475438"/>
                </a:cubicBezTo>
                <a:lnTo>
                  <a:pt x="1840660" y="508775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1" name="Mermaid Edge 11"/>
          <p:cNvSpPr/>
          <p:nvPr/>
        </p:nvSpPr>
        <p:spPr>
          <a:xfrm>
            <a:off x="2076398" y="4891051"/>
            <a:ext cx="2095971" cy="589697"/>
          </a:xfrm>
          <a:custGeom>
            <a:avLst/>
            <a:gdLst/>
            <a:ahLst/>
            <a:cxnLst/>
            <a:rect l="0" t="0" r="2095971" b="589697"/>
            <a:pathLst>
              <a:path w="2095971" h="589697">
                <a:moveTo>
                  <a:pt x="0" y="0"/>
                </a:moveTo>
                <a:lnTo>
                  <a:pt x="0" y="39689"/>
                </a:lnTo>
                <a:cubicBezTo>
                  <a:pt x="0" y="79369"/>
                  <a:pt x="0" y="158749"/>
                  <a:pt x="349330" y="257025"/>
                </a:cubicBezTo>
                <a:cubicBezTo>
                  <a:pt x="698660" y="355311"/>
                  <a:pt x="1397311" y="472504"/>
                  <a:pt x="1746641" y="531100"/>
                </a:cubicBezTo>
                <a:lnTo>
                  <a:pt x="2095971" y="589697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2" name="Mermaid Edge 12"/>
          <p:cNvSpPr/>
          <p:nvPr/>
        </p:nvSpPr>
        <p:spPr>
          <a:xfrm>
            <a:off x="5029074" y="4891051"/>
            <a:ext cx="1" cy="438139"/>
          </a:xfrm>
          <a:custGeom>
            <a:avLst/>
            <a:gdLst/>
            <a:ahLst/>
            <a:cxnLst/>
            <a:rect l="0" t="0" r="1" b="438139"/>
            <a:pathLst>
              <a:path w="1" h="438139">
                <a:moveTo>
                  <a:pt x="0" y="0"/>
                </a:moveTo>
                <a:lnTo>
                  <a:pt x="0" y="39689"/>
                </a:lnTo>
                <a:cubicBezTo>
                  <a:pt x="0" y="79369"/>
                  <a:pt x="0" y="158749"/>
                  <a:pt x="0" y="231766"/>
                </a:cubicBezTo>
                <a:cubicBezTo>
                  <a:pt x="0" y="304792"/>
                  <a:pt x="0" y="371465"/>
                  <a:pt x="0" y="404802"/>
                </a:cubicBezTo>
                <a:lnTo>
                  <a:pt x="0" y="43813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3" name="Mermaid Edge 13"/>
          <p:cNvSpPr/>
          <p:nvPr/>
        </p:nvSpPr>
        <p:spPr>
          <a:xfrm>
            <a:off x="5885779" y="4891051"/>
            <a:ext cx="2095971" cy="589697"/>
          </a:xfrm>
          <a:custGeom>
            <a:avLst/>
            <a:gdLst/>
            <a:ahLst/>
            <a:cxnLst/>
            <a:rect l="0" t="0" r="2095971" b="589697"/>
            <a:pathLst>
              <a:path w="2095971" h="589697">
                <a:moveTo>
                  <a:pt x="2095971" y="0"/>
                </a:moveTo>
                <a:lnTo>
                  <a:pt x="2095971" y="39689"/>
                </a:lnTo>
                <a:cubicBezTo>
                  <a:pt x="2095971" y="79369"/>
                  <a:pt x="2095971" y="158749"/>
                  <a:pt x="1746641" y="257025"/>
                </a:cubicBezTo>
                <a:cubicBezTo>
                  <a:pt x="1397311" y="355311"/>
                  <a:pt x="698660" y="472504"/>
                  <a:pt x="349330" y="531100"/>
                </a:cubicBezTo>
                <a:lnTo>
                  <a:pt x="0" y="589697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4" name="Rect 14"/>
          <p:cNvSpPr/>
          <p:nvPr/>
        </p:nvSpPr>
        <p:spPr>
          <a:xfrm>
            <a:off x="3819281" y="947799"/>
            <a:ext cx="2419587" cy="51433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4105023" y="1090671"/>
            <a:ext cx="1848102" cy="228594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過去：人工目檢 + 人工清潔</a:t>
            </a:r>
            <a:endParaRPr lang="en-US" sz="1200"/>
          </a:p>
        </p:txBody>
      </p:sp>
      <p:sp>
        <p:nvSpPr>
          <p:cNvPr id="16" name="Rect 16"/>
          <p:cNvSpPr/>
          <p:nvPr/>
        </p:nvSpPr>
        <p:spPr>
          <a:xfrm>
            <a:off x="838179" y="1938374"/>
            <a:ext cx="2476438" cy="74293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60477" y="2081246"/>
            <a:ext cx="2231842" cy="45718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問題：肉眼難看見 100um x 100um 髒污</a:t>
            </a:r>
            <a:endParaRPr lang="en-US" sz="1200"/>
          </a:p>
        </p:txBody>
      </p:sp>
      <p:sp>
        <p:nvSpPr>
          <p:cNvPr id="18" name="Rect 18"/>
          <p:cNvSpPr/>
          <p:nvPr/>
        </p:nvSpPr>
        <p:spPr>
          <a:xfrm>
            <a:off x="3790855" y="1938374"/>
            <a:ext cx="2476438" cy="74293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4076598" y="2081246"/>
            <a:ext cx="1904952" cy="45718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問題：耗時、耗工、標準不一致</a:t>
            </a:r>
            <a:endParaRPr lang="en-US" sz="1200"/>
          </a:p>
        </p:txBody>
      </p:sp>
      <p:sp>
        <p:nvSpPr>
          <p:cNvPr id="20" name="Rect 20"/>
          <p:cNvSpPr/>
          <p:nvPr/>
        </p:nvSpPr>
        <p:spPr>
          <a:xfrm>
            <a:off x="6743531" y="1938374"/>
            <a:ext cx="2476438" cy="74293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7029274" y="2081246"/>
            <a:ext cx="1904952" cy="45718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問題：缺少檢測紀錄與改善依據</a:t>
            </a:r>
            <a:endParaRPr lang="en-US" sz="1200"/>
          </a:p>
        </p:txBody>
      </p:sp>
      <p:sp>
        <p:nvSpPr>
          <p:cNvPr id="22" name="Rect 22"/>
          <p:cNvSpPr/>
          <p:nvPr/>
        </p:nvSpPr>
        <p:spPr>
          <a:xfrm>
            <a:off x="3917058" y="3157544"/>
            <a:ext cx="2224032" cy="51433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4202801" y="3300415"/>
            <a:ext cx="1652546" cy="228595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現在：AOI 清潔檢測設備</a:t>
            </a:r>
            <a:endParaRPr lang="en-US" sz="1200"/>
          </a:p>
        </p:txBody>
      </p:sp>
      <p:sp>
        <p:nvSpPr>
          <p:cNvPr id="24" name="Rect 24"/>
          <p:cNvSpPr/>
          <p:nvPr/>
        </p:nvSpPr>
        <p:spPr>
          <a:xfrm>
            <a:off x="838179" y="4148119"/>
            <a:ext cx="2476438" cy="74293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1123922" y="4290991"/>
            <a:ext cx="1904952" cy="45718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精準檢測：可檢出微小髒污缺陷</a:t>
            </a:r>
            <a:endParaRPr lang="en-US" sz="1200"/>
          </a:p>
        </p:txBody>
      </p:sp>
      <p:sp>
        <p:nvSpPr>
          <p:cNvPr id="26" name="Rect 26"/>
          <p:cNvSpPr/>
          <p:nvPr/>
        </p:nvSpPr>
        <p:spPr>
          <a:xfrm>
            <a:off x="3790855" y="4148119"/>
            <a:ext cx="2476438" cy="74293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076598" y="4290991"/>
            <a:ext cx="1904952" cy="45718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自動清潔：針對髒污位置處理</a:t>
            </a:r>
            <a:endParaRPr lang="en-US" sz="1200"/>
          </a:p>
        </p:txBody>
      </p:sp>
      <p:sp>
        <p:nvSpPr>
          <p:cNvPr id="28" name="Rect 28"/>
          <p:cNvSpPr/>
          <p:nvPr/>
        </p:nvSpPr>
        <p:spPr>
          <a:xfrm>
            <a:off x="6743531" y="4148119"/>
            <a:ext cx="2476438" cy="74293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029274" y="4290991"/>
            <a:ext cx="1904952" cy="45718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數據化管理：留下檢測與清潔紀錄</a:t>
            </a:r>
            <a:endParaRPr lang="en-US" sz="1200"/>
          </a:p>
        </p:txBody>
      </p:sp>
      <p:sp>
        <p:nvSpPr>
          <p:cNvPr id="30" name="Rect 30"/>
          <p:cNvSpPr/>
          <p:nvPr/>
        </p:nvSpPr>
        <p:spPr>
          <a:xfrm>
            <a:off x="4209945" y="5367289"/>
            <a:ext cx="1638259" cy="514337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4495688" y="5510160"/>
            <a:ext cx="1066773" cy="228594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提升品質穩定性</a:t>
            </a:r>
            <a:endParaRPr lang="en-US" sz="1200"/>
          </a:p>
        </p:txBody>
      </p:sp>
    </p:spTree>
  </p:cSld>
  <p:clrMapOvr>
    <a:masterClrMapping/>
  </p:clrMapOvr>
</p:sld>
</file>