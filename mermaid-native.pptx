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smdcp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36d28498c024301" /><Relationship Type="http://schemas.openxmlformats.org/package/2006/relationships/metadata/core-properties" Target="/package/services/metadata/core-properties/ea69831c0d0642b38848d73d447ae874.psmdcp" Id="R7088ae01e2e64640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</p:sldIdLst>
  <p:sldSz cx="12191695" cy="6858000" type="screen16x9"/>
  <p:notesSz cx="6858000" cy="9144000"/>
  <p:defaultTextStyle>
    <a:defPPr>
      <a:defRPr lang="en-US"/>
    </a:defPPr>
  </p:defaultTextStyle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theme" Target="/ppt/slideMasters/theme/theme1.xml" Id="rIdTheme1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 algn="l">
        <a:defRPr sz="3200" kern="1200">
          <a:solidFill>
            <a:schemeClr val="tx1"/>
          </a:solidFill>
          <a:latin typeface="Microsoft JhengHei"/>
          <a:ea typeface="Microsoft JhengHei"/>
          <a:cs typeface="Microsoft JhengHei"/>
        </a:defRPr>
      </a:lvl1pPr>
    </p:titleStyle>
    <p:bodyStyle>
      <a:lvl1pPr marL="0" indent="0" algn="l">
        <a:defRPr sz="1800" kern="1200">
          <a:solidFill>
            <a:schemeClr val="tx1"/>
          </a:solidFill>
          <a:latin typeface="Microsoft JhengHei"/>
          <a:ea typeface="Microsoft JhengHei"/>
          <a:cs typeface="Microsoft JhengHei"/>
        </a:defRPr>
      </a:lvl1pPr>
    </p:bodyStyle>
    <p:otherStyle>
      <a:lvl1pPr marL="0" indent="0" algn="l">
        <a:defRPr sz="1800" kern="1200">
          <a:solidFill>
            <a:schemeClr val="tx1"/>
          </a:solidFill>
          <a:latin typeface="Microsoft JhengHei"/>
          <a:ea typeface="Microsoft JhengHei"/>
          <a:cs typeface="Microsoft JhengHei"/>
        </a:defRPr>
      </a:lvl1pPr>
    </p:otherStyle>
  </p:txStyles>
</p:sldMaster>
</file>

<file path=ppt/slideMasters/theme/theme1.xml><?xml version="1.0" encoding="utf-8"?>
<a:theme xmlns:a="http://schemas.openxmlformats.org/drawingml/2006/main" name="Mermaid2Pptx">
  <a:themeElements>
    <a:clrScheme name="Mermaid2Pptx">
      <a:dk1>
        <a:srgbClr val="111111"/>
      </a:dk1>
      <a:lt1>
        <a:srgbClr val="FFFFFF"/>
      </a:lt1>
      <a:dk2>
        <a:srgbClr val="444444"/>
      </a:dk2>
      <a:lt2>
        <a:srgbClr val="EEEEEE"/>
      </a:lt2>
      <a:accent1>
        <a:srgbClr val="2563EB"/>
      </a:accent1>
      <a:accent2>
        <a:srgbClr val="16A34A"/>
      </a:accent2>
      <a:accent3>
        <a:srgbClr val="DC2626"/>
      </a:accent3>
      <a:accent4>
        <a:srgbClr val="F59E0B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Mermaid2Pptx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ermaid2Ppt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Mermaid Edge 2"/>
          <p:cNvSpPr/>
          <p:nvPr/>
        </p:nvSpPr>
        <p:spPr>
          <a:xfrm>
            <a:off x="2574354" y="1467551"/>
            <a:ext cx="652930" cy="1"/>
          </a:xfrm>
          <a:custGeom>
            <a:avLst/>
            <a:gdLst/>
            <a:ahLst/>
            <a:cxnLst/>
            <a:rect l="0" t="0" r="652930" b="1"/>
            <a:pathLst>
              <a:path w="652930" h="1">
                <a:moveTo>
                  <a:pt x="0" y="0"/>
                </a:moveTo>
                <a:lnTo>
                  <a:pt x="76058" y="0"/>
                </a:lnTo>
                <a:cubicBezTo>
                  <a:pt x="152116" y="0"/>
                  <a:pt x="304232" y="0"/>
                  <a:pt x="413054" y="0"/>
                </a:cubicBezTo>
                <a:cubicBezTo>
                  <a:pt x="521876" y="0"/>
                  <a:pt x="587403" y="0"/>
                  <a:pt x="620166" y="0"/>
                </a:cubicBezTo>
                <a:lnTo>
                  <a:pt x="652930" y="0"/>
                </a:lnTo>
              </a:path>
            </a:pathLst>
          </a:custGeom>
          <a:noFill/>
          <a:ln w="9525">
            <a:solidFill>
              <a:srgbClr val="333333"/>
            </a:solidFill>
            <a:tailEnd type="triangle" w="med" len="med"/>
          </a:ln>
        </p:spPr>
      </p:sp>
      <p:sp>
        <p:nvSpPr>
          <p:cNvPr id="3" name="Mermaid Edge 3"/>
          <p:cNvSpPr/>
          <p:nvPr/>
        </p:nvSpPr>
        <p:spPr>
          <a:xfrm>
            <a:off x="2645516" y="2441094"/>
            <a:ext cx="813405" cy="217091"/>
          </a:xfrm>
          <a:custGeom>
            <a:avLst/>
            <a:gdLst/>
            <a:ahLst/>
            <a:cxnLst/>
            <a:rect l="0" t="0" r="813405" b="217091"/>
            <a:pathLst>
              <a:path w="813405" h="217091">
                <a:moveTo>
                  <a:pt x="0" y="0"/>
                </a:moveTo>
                <a:lnTo>
                  <a:pt x="64198" y="0"/>
                </a:lnTo>
                <a:cubicBezTo>
                  <a:pt x="128396" y="0"/>
                  <a:pt x="256791" y="0"/>
                  <a:pt x="392357" y="36181"/>
                </a:cubicBezTo>
                <a:cubicBezTo>
                  <a:pt x="527933" y="72361"/>
                  <a:pt x="670669" y="144731"/>
                  <a:pt x="742037" y="180911"/>
                </a:cubicBezTo>
                <a:lnTo>
                  <a:pt x="813405" y="217091"/>
                </a:lnTo>
              </a:path>
            </a:pathLst>
          </a:custGeom>
          <a:noFill/>
          <a:ln w="9525">
            <a:solidFill>
              <a:srgbClr val="333333"/>
            </a:solidFill>
            <a:tailEnd type="triangle" w="med" len="med"/>
          </a:ln>
        </p:spPr>
      </p:sp>
      <p:sp>
        <p:nvSpPr>
          <p:cNvPr id="4" name="Mermaid Edge 4"/>
          <p:cNvSpPr/>
          <p:nvPr/>
        </p:nvSpPr>
        <p:spPr>
          <a:xfrm>
            <a:off x="2734521" y="3197547"/>
            <a:ext cx="724400" cy="217091"/>
          </a:xfrm>
          <a:custGeom>
            <a:avLst/>
            <a:gdLst/>
            <a:ahLst/>
            <a:cxnLst/>
            <a:rect l="0" t="0" r="724400" b="217091"/>
            <a:pathLst>
              <a:path w="724400" h="217091">
                <a:moveTo>
                  <a:pt x="0" y="217091"/>
                </a:moveTo>
                <a:lnTo>
                  <a:pt x="49360" y="217091"/>
                </a:lnTo>
                <a:cubicBezTo>
                  <a:pt x="98730" y="217091"/>
                  <a:pt x="197461" y="217091"/>
                  <a:pt x="318189" y="180911"/>
                </a:cubicBezTo>
                <a:cubicBezTo>
                  <a:pt x="438928" y="144731"/>
                  <a:pt x="581664" y="72361"/>
                  <a:pt x="653032" y="36180"/>
                </a:cubicBezTo>
                <a:lnTo>
                  <a:pt x="724400" y="0"/>
                </a:lnTo>
              </a:path>
            </a:pathLst>
          </a:custGeom>
          <a:noFill/>
          <a:ln w="9525">
            <a:solidFill>
              <a:srgbClr val="333333"/>
            </a:solidFill>
            <a:tailEnd type="triangle" w="med" len="med"/>
          </a:ln>
        </p:spPr>
      </p:sp>
      <p:sp>
        <p:nvSpPr>
          <p:cNvPr id="5" name="Mermaid Edge 5"/>
          <p:cNvSpPr/>
          <p:nvPr/>
        </p:nvSpPr>
        <p:spPr>
          <a:xfrm>
            <a:off x="2796678" y="4388182"/>
            <a:ext cx="662243" cy="217091"/>
          </a:xfrm>
          <a:custGeom>
            <a:avLst/>
            <a:gdLst/>
            <a:ahLst/>
            <a:cxnLst/>
            <a:rect l="0" t="0" r="662243" b="217091"/>
            <a:pathLst>
              <a:path w="662243" h="217091">
                <a:moveTo>
                  <a:pt x="0" y="0"/>
                </a:moveTo>
                <a:lnTo>
                  <a:pt x="39007" y="0"/>
                </a:lnTo>
                <a:cubicBezTo>
                  <a:pt x="78014" y="0"/>
                  <a:pt x="156020" y="0"/>
                  <a:pt x="266395" y="36180"/>
                </a:cubicBezTo>
                <a:cubicBezTo>
                  <a:pt x="376771" y="72360"/>
                  <a:pt x="519507" y="144730"/>
                  <a:pt x="590875" y="180910"/>
                </a:cubicBezTo>
                <a:lnTo>
                  <a:pt x="662243" y="217091"/>
                </a:lnTo>
              </a:path>
            </a:pathLst>
          </a:custGeom>
          <a:noFill/>
          <a:ln w="9525">
            <a:solidFill>
              <a:srgbClr val="333333"/>
            </a:solidFill>
            <a:tailEnd type="triangle" w="med" len="med"/>
          </a:ln>
        </p:spPr>
      </p:sp>
      <p:sp>
        <p:nvSpPr>
          <p:cNvPr id="6" name="Mermaid Edge 6"/>
          <p:cNvSpPr/>
          <p:nvPr/>
        </p:nvSpPr>
        <p:spPr>
          <a:xfrm>
            <a:off x="2776935" y="5144634"/>
            <a:ext cx="681986" cy="217091"/>
          </a:xfrm>
          <a:custGeom>
            <a:avLst/>
            <a:gdLst/>
            <a:ahLst/>
            <a:cxnLst/>
            <a:rect l="0" t="0" r="681986" b="217091"/>
            <a:pathLst>
              <a:path w="681986" h="217091">
                <a:moveTo>
                  <a:pt x="0" y="217091"/>
                </a:moveTo>
                <a:lnTo>
                  <a:pt x="42293" y="217091"/>
                </a:lnTo>
                <a:cubicBezTo>
                  <a:pt x="84586" y="217091"/>
                  <a:pt x="169182" y="217091"/>
                  <a:pt x="282843" y="180911"/>
                </a:cubicBezTo>
                <a:cubicBezTo>
                  <a:pt x="396514" y="144731"/>
                  <a:pt x="539250" y="72361"/>
                  <a:pt x="610618" y="36181"/>
                </a:cubicBezTo>
                <a:lnTo>
                  <a:pt x="681986" y="0"/>
                </a:lnTo>
              </a:path>
            </a:pathLst>
          </a:custGeom>
          <a:noFill/>
          <a:ln w="9525">
            <a:solidFill>
              <a:srgbClr val="333333"/>
            </a:solidFill>
            <a:tailEnd type="triangle" w="med" len="med"/>
          </a:ln>
        </p:spPr>
      </p:sp>
      <p:sp>
        <p:nvSpPr>
          <p:cNvPr id="7" name="Mermaid Edge 7"/>
          <p:cNvSpPr/>
          <p:nvPr/>
        </p:nvSpPr>
        <p:spPr>
          <a:xfrm>
            <a:off x="4717002" y="1467551"/>
            <a:ext cx="1010697" cy="1176321"/>
          </a:xfrm>
          <a:custGeom>
            <a:avLst/>
            <a:gdLst/>
            <a:ahLst/>
            <a:cxnLst/>
            <a:rect l="0" t="0" r="1010697" b="1176321"/>
            <a:pathLst>
              <a:path w="1010697" h="1176321">
                <a:moveTo>
                  <a:pt x="0" y="0"/>
                </a:moveTo>
                <a:lnTo>
                  <a:pt x="39007" y="0"/>
                </a:lnTo>
                <a:cubicBezTo>
                  <a:pt x="78005" y="0"/>
                  <a:pt x="156020" y="0"/>
                  <a:pt x="324471" y="196057"/>
                </a:cubicBezTo>
                <a:cubicBezTo>
                  <a:pt x="492913" y="392104"/>
                  <a:pt x="751810" y="784217"/>
                  <a:pt x="881254" y="980265"/>
                </a:cubicBezTo>
                <a:lnTo>
                  <a:pt x="1010697" y="1176321"/>
                </a:lnTo>
              </a:path>
            </a:pathLst>
          </a:custGeom>
          <a:noFill/>
          <a:ln w="9525">
            <a:solidFill>
              <a:srgbClr val="333333"/>
            </a:solidFill>
            <a:tailEnd type="triangle" w="med" len="med"/>
          </a:ln>
        </p:spPr>
      </p:sp>
      <p:sp>
        <p:nvSpPr>
          <p:cNvPr id="8" name="Mermaid Edge 8"/>
          <p:cNvSpPr/>
          <p:nvPr/>
        </p:nvSpPr>
        <p:spPr>
          <a:xfrm>
            <a:off x="4686429" y="2927866"/>
            <a:ext cx="461179" cy="1"/>
          </a:xfrm>
          <a:custGeom>
            <a:avLst/>
            <a:gdLst/>
            <a:ahLst/>
            <a:cxnLst/>
            <a:rect l="0" t="0" r="461179" b="1"/>
            <a:pathLst>
              <a:path w="461179" h="1">
                <a:moveTo>
                  <a:pt x="0" y="0"/>
                </a:moveTo>
                <a:lnTo>
                  <a:pt x="44100" y="0"/>
                </a:lnTo>
                <a:cubicBezTo>
                  <a:pt x="88199" y="0"/>
                  <a:pt x="176399" y="0"/>
                  <a:pt x="253262" y="0"/>
                </a:cubicBezTo>
                <a:cubicBezTo>
                  <a:pt x="330125" y="0"/>
                  <a:pt x="395652" y="0"/>
                  <a:pt x="428415" y="0"/>
                </a:cubicBezTo>
                <a:lnTo>
                  <a:pt x="461179" y="0"/>
                </a:lnTo>
              </a:path>
            </a:pathLst>
          </a:custGeom>
          <a:noFill/>
          <a:ln w="9525">
            <a:solidFill>
              <a:srgbClr val="333333"/>
            </a:solidFill>
            <a:tailEnd type="triangle" w="med" len="med"/>
          </a:ln>
        </p:spPr>
      </p:sp>
      <p:sp>
        <p:nvSpPr>
          <p:cNvPr id="9" name="Mermaid Edge 9"/>
          <p:cNvSpPr/>
          <p:nvPr/>
        </p:nvSpPr>
        <p:spPr>
          <a:xfrm>
            <a:off x="4656811" y="3214172"/>
            <a:ext cx="1116626" cy="1660782"/>
          </a:xfrm>
          <a:custGeom>
            <a:avLst/>
            <a:gdLst/>
            <a:ahLst/>
            <a:cxnLst/>
            <a:rect l="0" t="0" r="1116626" b="1660782"/>
            <a:pathLst>
              <a:path w="1116626" h="1660782">
                <a:moveTo>
                  <a:pt x="0" y="1660782"/>
                </a:moveTo>
                <a:lnTo>
                  <a:pt x="49042" y="1660782"/>
                </a:lnTo>
                <a:cubicBezTo>
                  <a:pt x="98075" y="1660782"/>
                  <a:pt x="196141" y="1660782"/>
                  <a:pt x="382247" y="1383986"/>
                </a:cubicBezTo>
                <a:cubicBezTo>
                  <a:pt x="568353" y="1107191"/>
                  <a:pt x="842489" y="553591"/>
                  <a:pt x="979553" y="276796"/>
                </a:cubicBezTo>
                <a:lnTo>
                  <a:pt x="1116626" y="0"/>
                </a:lnTo>
              </a:path>
            </a:pathLst>
          </a:custGeom>
          <a:noFill/>
          <a:ln w="9525">
            <a:solidFill>
              <a:srgbClr val="333333"/>
            </a:solidFill>
            <a:tailEnd type="triangle" w="med" len="med"/>
          </a:ln>
        </p:spPr>
      </p:sp>
      <p:sp>
        <p:nvSpPr>
          <p:cNvPr id="10" name="Mermaid Edge 10"/>
          <p:cNvSpPr/>
          <p:nvPr/>
        </p:nvSpPr>
        <p:spPr>
          <a:xfrm>
            <a:off x="6415845" y="2441094"/>
            <a:ext cx="660128" cy="234025"/>
          </a:xfrm>
          <a:custGeom>
            <a:avLst/>
            <a:gdLst/>
            <a:ahLst/>
            <a:cxnLst/>
            <a:rect l="0" t="0" r="660128" b="234025"/>
            <a:pathLst>
              <a:path w="660128" h="234025">
                <a:moveTo>
                  <a:pt x="0" y="234025"/>
                </a:moveTo>
                <a:lnTo>
                  <a:pt x="77256" y="195018"/>
                </a:lnTo>
                <a:cubicBezTo>
                  <a:pt x="154513" y="156020"/>
                  <a:pt x="309035" y="78006"/>
                  <a:pt x="419054" y="39008"/>
                </a:cubicBezTo>
                <a:cubicBezTo>
                  <a:pt x="529074" y="0"/>
                  <a:pt x="594601" y="0"/>
                  <a:pt x="627365" y="0"/>
                </a:cubicBezTo>
                <a:lnTo>
                  <a:pt x="660128" y="0"/>
                </a:lnTo>
              </a:path>
            </a:pathLst>
          </a:custGeom>
          <a:noFill/>
          <a:ln w="9525">
            <a:solidFill>
              <a:srgbClr val="333333"/>
            </a:solidFill>
            <a:tailEnd type="triangle" w="med" len="med"/>
          </a:ln>
        </p:spPr>
      </p:sp>
      <p:sp>
        <p:nvSpPr>
          <p:cNvPr id="11" name="Mermaid Edge 11"/>
          <p:cNvSpPr/>
          <p:nvPr/>
        </p:nvSpPr>
        <p:spPr>
          <a:xfrm>
            <a:off x="6415845" y="3180613"/>
            <a:ext cx="938103" cy="234025"/>
          </a:xfrm>
          <a:custGeom>
            <a:avLst/>
            <a:gdLst/>
            <a:ahLst/>
            <a:cxnLst/>
            <a:rect l="0" t="0" r="938103" b="234025"/>
            <a:pathLst>
              <a:path w="938103" h="234025">
                <a:moveTo>
                  <a:pt x="0" y="0"/>
                </a:moveTo>
                <a:lnTo>
                  <a:pt x="77256" y="39007"/>
                </a:lnTo>
                <a:cubicBezTo>
                  <a:pt x="154513" y="78005"/>
                  <a:pt x="309035" y="156020"/>
                  <a:pt x="465382" y="195018"/>
                </a:cubicBezTo>
                <a:cubicBezTo>
                  <a:pt x="621729" y="234025"/>
                  <a:pt x="779921" y="234025"/>
                  <a:pt x="859012" y="234025"/>
                </a:cubicBezTo>
                <a:lnTo>
                  <a:pt x="938103" y="234025"/>
                </a:lnTo>
              </a:path>
            </a:pathLst>
          </a:custGeom>
          <a:noFill/>
          <a:ln w="9525">
            <a:solidFill>
              <a:srgbClr val="333333"/>
            </a:solidFill>
            <a:tailEnd type="triangle" w="med" len="med"/>
          </a:ln>
        </p:spPr>
      </p:sp>
      <p:sp>
        <p:nvSpPr>
          <p:cNvPr id="12" name="Mermaid Edge 12"/>
          <p:cNvSpPr/>
          <p:nvPr/>
        </p:nvSpPr>
        <p:spPr>
          <a:xfrm>
            <a:off x="8789326" y="2441094"/>
            <a:ext cx="430605" cy="1"/>
          </a:xfrm>
          <a:custGeom>
            <a:avLst/>
            <a:gdLst/>
            <a:ahLst/>
            <a:cxnLst/>
            <a:rect l="0" t="0" r="430605" b="1"/>
            <a:pathLst>
              <a:path w="430605" h="1">
                <a:moveTo>
                  <a:pt x="0" y="0"/>
                </a:moveTo>
                <a:lnTo>
                  <a:pt x="39007" y="0"/>
                </a:lnTo>
                <a:cubicBezTo>
                  <a:pt x="78014" y="0"/>
                  <a:pt x="156019" y="0"/>
                  <a:pt x="227790" y="0"/>
                </a:cubicBezTo>
                <a:cubicBezTo>
                  <a:pt x="299552" y="0"/>
                  <a:pt x="365079" y="0"/>
                  <a:pt x="397842" y="0"/>
                </a:cubicBezTo>
                <a:lnTo>
                  <a:pt x="430605" y="0"/>
                </a:lnTo>
              </a:path>
            </a:pathLst>
          </a:custGeom>
          <a:noFill/>
          <a:ln w="9525">
            <a:solidFill>
              <a:srgbClr val="333333"/>
            </a:solidFill>
            <a:tailEnd type="triangle" w="med" len="med"/>
          </a:ln>
        </p:spPr>
      </p:sp>
      <p:sp>
        <p:nvSpPr>
          <p:cNvPr id="13" name="Rect 13"/>
          <p:cNvSpPr/>
          <p:nvPr/>
        </p:nvSpPr>
        <p:spPr>
          <a:xfrm>
            <a:off x="1059193" y="1214804"/>
            <a:ext cx="1515165" cy="50549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14" name="Text 14"/>
          <p:cNvSpPr txBox="1"/>
          <p:nvPr/>
        </p:nvSpPr>
        <p:spPr>
          <a:xfrm>
            <a:off x="1248001" y="1355219"/>
            <a:ext cx="1137548" cy="224664"/>
          </a:xfrm>
          <a:prstGeom prst="rect">
            <a:avLst/>
          </a:prstGeom>
          <a:noFill/>
          <a:ln w="9525">
            <a:noFill/>
          </a:ln>
        </p:spPr>
        <p:txBody>
          <a:bodyPr wrap="none" rtlCol="0" lIns="0" tIns="0" rIns="0" bIns="0" anchor="ctr">
            <a:noAutofit/>
          </a:bodyPr>
          <a:lstStyle/>
          <a:p>
            <a:pPr algn="ctr"/>
            <a:r>
              <a:rPr lang="en-US" sz="120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STEP / CAD 檔</a:t>
            </a:r>
            <a:endParaRPr lang="en-US" sz="1200"/>
          </a:p>
        </p:txBody>
      </p:sp>
      <p:sp>
        <p:nvSpPr>
          <p:cNvPr id="15" name="Rect 15"/>
          <p:cNvSpPr/>
          <p:nvPr/>
        </p:nvSpPr>
        <p:spPr>
          <a:xfrm>
            <a:off x="3264731" y="1214804"/>
            <a:ext cx="1452271" cy="50549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16" name="Text 16"/>
          <p:cNvSpPr txBox="1"/>
          <p:nvPr/>
        </p:nvSpPr>
        <p:spPr>
          <a:xfrm>
            <a:off x="3530680" y="1355219"/>
            <a:ext cx="920373" cy="224664"/>
          </a:xfrm>
          <a:prstGeom prst="rect">
            <a:avLst/>
          </a:prstGeom>
          <a:noFill/>
          <a:ln w="9525">
            <a:noFill/>
          </a:ln>
        </p:spPr>
        <p:txBody>
          <a:bodyPr wrap="none" rtlCol="0" lIns="0" tIns="0" rIns="0" bIns="0" anchor="ctr">
            <a:noAutofit/>
          </a:bodyPr>
          <a:lstStyle/>
          <a:p>
            <a:pPr algn="ctr"/>
            <a:r>
              <a:rPr lang="en-US" sz="120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3D Mesh 轉換</a:t>
            </a:r>
            <a:endParaRPr lang="en-US" sz="1200"/>
          </a:p>
        </p:txBody>
      </p:sp>
      <p:sp>
        <p:nvSpPr>
          <p:cNvPr id="17" name="Rect 17"/>
          <p:cNvSpPr/>
          <p:nvPr/>
        </p:nvSpPr>
        <p:spPr>
          <a:xfrm>
            <a:off x="988034" y="2188348"/>
            <a:ext cx="1657482" cy="50549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18" name="Text 18"/>
          <p:cNvSpPr txBox="1"/>
          <p:nvPr/>
        </p:nvSpPr>
        <p:spPr>
          <a:xfrm>
            <a:off x="1124436" y="2328762"/>
            <a:ext cx="1384679" cy="224664"/>
          </a:xfrm>
          <a:prstGeom prst="rect">
            <a:avLst/>
          </a:prstGeom>
          <a:noFill/>
          <a:ln w="9525">
            <a:noFill/>
          </a:ln>
        </p:spPr>
        <p:txBody>
          <a:bodyPr wrap="none" rtlCol="0" lIns="0" tIns="0" rIns="0" bIns="0" anchor="ctr">
            <a:noAutofit/>
          </a:bodyPr>
          <a:lstStyle/>
          <a:p>
            <a:pPr algn="ctr"/>
            <a:r>
              <a:rPr lang="en-US" sz="120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PLC / Controller</a:t>
            </a:r>
            <a:endParaRPr lang="en-US" sz="1200"/>
          </a:p>
        </p:txBody>
      </p:sp>
      <p:sp>
        <p:nvSpPr>
          <p:cNvPr id="19" name="Rect 19"/>
          <p:cNvSpPr/>
          <p:nvPr/>
        </p:nvSpPr>
        <p:spPr>
          <a:xfrm>
            <a:off x="3295301" y="2675119"/>
            <a:ext cx="1391131" cy="50549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20" name="Text 20"/>
          <p:cNvSpPr txBox="1"/>
          <p:nvPr/>
        </p:nvSpPr>
        <p:spPr>
          <a:xfrm>
            <a:off x="3576131" y="2815534"/>
            <a:ext cx="829472" cy="224664"/>
          </a:xfrm>
          <a:prstGeom prst="rect">
            <a:avLst/>
          </a:prstGeom>
          <a:noFill/>
          <a:ln w="9525">
            <a:noFill/>
          </a:ln>
        </p:spPr>
        <p:txBody>
          <a:bodyPr wrap="none" rtlCol="0" lIns="0" tIns="0" rIns="0" bIns="0" anchor="ctr">
            <a:noAutofit/>
          </a:bodyPr>
          <a:lstStyle/>
          <a:p>
            <a:pPr algn="ctr"/>
            <a:r>
              <a:rPr lang="en-US" sz="120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OT 資料接入</a:t>
            </a:r>
            <a:endParaRPr lang="en-US" sz="1200"/>
          </a:p>
        </p:txBody>
      </p:sp>
      <p:sp>
        <p:nvSpPr>
          <p:cNvPr id="21" name="Rect 21"/>
          <p:cNvSpPr/>
          <p:nvPr/>
        </p:nvSpPr>
        <p:spPr>
          <a:xfrm>
            <a:off x="899032" y="3161891"/>
            <a:ext cx="1835486" cy="50549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22" name="Text 22"/>
          <p:cNvSpPr txBox="1"/>
          <p:nvPr/>
        </p:nvSpPr>
        <p:spPr>
          <a:xfrm>
            <a:off x="1028580" y="3302306"/>
            <a:ext cx="1576392" cy="224664"/>
          </a:xfrm>
          <a:prstGeom prst="rect">
            <a:avLst/>
          </a:prstGeom>
          <a:noFill/>
          <a:ln w="9525">
            <a:noFill/>
          </a:ln>
        </p:spPr>
        <p:txBody>
          <a:bodyPr wrap="none" rtlCol="0" lIns="0" tIns="0" rIns="0" bIns="0" anchor="ctr">
            <a:noAutofit/>
          </a:bodyPr>
          <a:lstStyle/>
          <a:p>
            <a:pPr algn="ctr"/>
            <a:r>
              <a:rPr lang="en-US" sz="120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EtherCAT / Modbus</a:t>
            </a:r>
            <a:endParaRPr lang="en-US" sz="1200"/>
          </a:p>
        </p:txBody>
      </p:sp>
      <p:sp>
        <p:nvSpPr>
          <p:cNvPr id="23" name="Rect 23"/>
          <p:cNvSpPr/>
          <p:nvPr/>
        </p:nvSpPr>
        <p:spPr>
          <a:xfrm>
            <a:off x="836869" y="4135435"/>
            <a:ext cx="1959812" cy="50549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24" name="Text 24"/>
          <p:cNvSpPr txBox="1"/>
          <p:nvPr/>
        </p:nvSpPr>
        <p:spPr>
          <a:xfrm>
            <a:off x="1049548" y="4275850"/>
            <a:ext cx="1534455" cy="224664"/>
          </a:xfrm>
          <a:prstGeom prst="rect">
            <a:avLst/>
          </a:prstGeom>
          <a:noFill/>
          <a:ln w="9525">
            <a:noFill/>
          </a:ln>
        </p:spPr>
        <p:txBody>
          <a:bodyPr wrap="none" rtlCol="0" lIns="0" tIns="0" rIns="0" bIns="0" anchor="ctr">
            <a:noAutofit/>
          </a:bodyPr>
          <a:lstStyle/>
          <a:p>
            <a:pPr algn="ctr"/>
            <a:r>
              <a:rPr lang="en-US" sz="120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MES / 工單 / Routing</a:t>
            </a:r>
            <a:endParaRPr lang="en-US" sz="1200"/>
          </a:p>
        </p:txBody>
      </p:sp>
      <p:sp>
        <p:nvSpPr>
          <p:cNvPr id="25" name="Rect 25"/>
          <p:cNvSpPr/>
          <p:nvPr/>
        </p:nvSpPr>
        <p:spPr>
          <a:xfrm>
            <a:off x="3324919" y="4622207"/>
            <a:ext cx="1331895" cy="50549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26" name="Text 26"/>
          <p:cNvSpPr txBox="1"/>
          <p:nvPr/>
        </p:nvSpPr>
        <p:spPr>
          <a:xfrm>
            <a:off x="3605749" y="4762622"/>
            <a:ext cx="770235" cy="224664"/>
          </a:xfrm>
          <a:prstGeom prst="rect">
            <a:avLst/>
          </a:prstGeom>
          <a:noFill/>
          <a:ln w="9525">
            <a:noFill/>
          </a:ln>
        </p:spPr>
        <p:txBody>
          <a:bodyPr wrap="none" rtlCol="0" lIns="0" tIns="0" rIns="0" bIns="0" anchor="ctr">
            <a:noAutofit/>
          </a:bodyPr>
          <a:lstStyle/>
          <a:p>
            <a:pPr algn="ctr"/>
            <a:r>
              <a:rPr lang="en-US" sz="120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IT 資料接入</a:t>
            </a:r>
            <a:endParaRPr lang="en-US" sz="1200"/>
          </a:p>
        </p:txBody>
      </p:sp>
      <p:sp>
        <p:nvSpPr>
          <p:cNvPr id="27" name="Rect 27"/>
          <p:cNvSpPr/>
          <p:nvPr/>
        </p:nvSpPr>
        <p:spPr>
          <a:xfrm>
            <a:off x="856615" y="5108978"/>
            <a:ext cx="1920320" cy="50549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28" name="Text 28"/>
          <p:cNvSpPr txBox="1"/>
          <p:nvPr/>
        </p:nvSpPr>
        <p:spPr>
          <a:xfrm>
            <a:off x="1137445" y="5249393"/>
            <a:ext cx="1358661" cy="224664"/>
          </a:xfrm>
          <a:prstGeom prst="rect">
            <a:avLst/>
          </a:prstGeom>
          <a:noFill/>
          <a:ln w="9525">
            <a:noFill/>
          </a:ln>
        </p:spPr>
        <p:txBody>
          <a:bodyPr wrap="none" rtlCol="0" lIns="0" tIns="0" rIns="0" bIns="0" anchor="ctr">
            <a:noAutofit/>
          </a:bodyPr>
          <a:lstStyle/>
          <a:p>
            <a:pPr algn="ctr"/>
            <a:r>
              <a:rPr lang="en-US" sz="120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SCADA / 警報 / 狀態</a:t>
            </a:r>
            <a:endParaRPr lang="en-US" sz="1200"/>
          </a:p>
        </p:txBody>
      </p:sp>
      <p:sp>
        <p:nvSpPr>
          <p:cNvPr id="29" name="Rect 29"/>
          <p:cNvSpPr/>
          <p:nvPr/>
        </p:nvSpPr>
        <p:spPr>
          <a:xfrm>
            <a:off x="5185052" y="2675119"/>
            <a:ext cx="1460315" cy="50549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30" name="Text 30"/>
          <p:cNvSpPr txBox="1"/>
          <p:nvPr/>
        </p:nvSpPr>
        <p:spPr>
          <a:xfrm>
            <a:off x="5465882" y="2815534"/>
            <a:ext cx="898655" cy="224664"/>
          </a:xfrm>
          <a:prstGeom prst="rect">
            <a:avLst/>
          </a:prstGeom>
          <a:noFill/>
          <a:ln w="9525">
            <a:noFill/>
          </a:ln>
        </p:spPr>
        <p:txBody>
          <a:bodyPr wrap="none" rtlCol="0" lIns="0" tIns="0" rIns="0" bIns="0" anchor="ctr">
            <a:noAutofit/>
          </a:bodyPr>
          <a:lstStyle/>
          <a:p>
            <a:pPr algn="ctr"/>
            <a:r>
              <a:rPr lang="en-US" sz="120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數位孿生核心</a:t>
            </a:r>
            <a:endParaRPr lang="en-US" sz="1200"/>
          </a:p>
        </p:txBody>
      </p:sp>
      <p:sp>
        <p:nvSpPr>
          <p:cNvPr id="31" name="Rect 31"/>
          <p:cNvSpPr/>
          <p:nvPr/>
        </p:nvSpPr>
        <p:spPr>
          <a:xfrm>
            <a:off x="7113417" y="2188348"/>
            <a:ext cx="1675911" cy="50549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32" name="Text 32"/>
          <p:cNvSpPr txBox="1"/>
          <p:nvPr/>
        </p:nvSpPr>
        <p:spPr>
          <a:xfrm>
            <a:off x="7394247" y="2328762"/>
            <a:ext cx="1114251" cy="224664"/>
          </a:xfrm>
          <a:prstGeom prst="rect">
            <a:avLst/>
          </a:prstGeom>
          <a:noFill/>
          <a:ln w="9525">
            <a:noFill/>
          </a:ln>
        </p:spPr>
        <p:txBody>
          <a:bodyPr wrap="none" rtlCol="0" lIns="0" tIns="0" rIns="0" bIns="0" anchor="ctr">
            <a:noAutofit/>
          </a:bodyPr>
          <a:lstStyle/>
          <a:p>
            <a:pPr algn="ctr"/>
            <a:r>
              <a:rPr lang="en-US" sz="120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3D 即時操作介面</a:t>
            </a:r>
            <a:endParaRPr lang="en-US" sz="1200"/>
          </a:p>
        </p:txBody>
      </p:sp>
      <p:sp>
        <p:nvSpPr>
          <p:cNvPr id="33" name="Rect 33"/>
          <p:cNvSpPr/>
          <p:nvPr/>
        </p:nvSpPr>
        <p:spPr>
          <a:xfrm>
            <a:off x="7391395" y="3161891"/>
            <a:ext cx="1119955" cy="50549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34" name="Text 34"/>
          <p:cNvSpPr txBox="1"/>
          <p:nvPr/>
        </p:nvSpPr>
        <p:spPr>
          <a:xfrm>
            <a:off x="7638715" y="3302306"/>
            <a:ext cx="625315" cy="224664"/>
          </a:xfrm>
          <a:prstGeom prst="rect">
            <a:avLst/>
          </a:prstGeom>
          <a:noFill/>
          <a:ln w="9525">
            <a:noFill/>
          </a:ln>
        </p:spPr>
        <p:txBody>
          <a:bodyPr wrap="none" rtlCol="0" lIns="0" tIns="0" rIns="0" bIns="0" anchor="ctr">
            <a:noAutofit/>
          </a:bodyPr>
          <a:lstStyle/>
          <a:p>
            <a:pPr algn="ctr"/>
            <a:r>
              <a:rPr lang="en-US" sz="120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整合 API</a:t>
            </a:r>
            <a:endParaRPr lang="en-US" sz="1200"/>
          </a:p>
        </p:txBody>
      </p:sp>
      <p:sp>
        <p:nvSpPr>
          <p:cNvPr id="35" name="Rect 35"/>
          <p:cNvSpPr/>
          <p:nvPr/>
        </p:nvSpPr>
        <p:spPr>
          <a:xfrm>
            <a:off x="9257378" y="2188348"/>
            <a:ext cx="2097448" cy="50549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36" name="Text 36"/>
          <p:cNvSpPr txBox="1"/>
          <p:nvPr/>
        </p:nvSpPr>
        <p:spPr>
          <a:xfrm>
            <a:off x="9538208" y="2328762"/>
            <a:ext cx="1535788" cy="224664"/>
          </a:xfrm>
          <a:prstGeom prst="rect">
            <a:avLst/>
          </a:prstGeom>
          <a:noFill/>
          <a:ln w="9525">
            <a:noFill/>
          </a:ln>
        </p:spPr>
        <p:txBody>
          <a:bodyPr wrap="none" rtlCol="0" lIns="0" tIns="0" rIns="0" bIns="0" anchor="ctr">
            <a:noAutofit/>
          </a:bodyPr>
          <a:lstStyle/>
          <a:p>
            <a:pPr algn="ctr"/>
            <a:r>
              <a:rPr lang="en-US" sz="120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工程師 / 操作員 / 主管</a:t>
            </a:r>
            <a:endParaRPr lang="en-US" sz="1200"/>
          </a:p>
        </p:txBody>
      </p:sp>
    </p:spTree>
  </p:cSld>
  <p:clrMapOvr>
    <a:masterClrMapping/>
  </p:clrMapOvr>
</p:sld>
</file>