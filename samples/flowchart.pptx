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smdcp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c1af19ab86446b1" /><Relationship Type="http://schemas.openxmlformats.org/package/2006/relationships/metadata/core-properties" Target="/package/services/metadata/core-properties/e816b7ea04a74796a9476d8a070bd5a6.psmdcp" Id="R111013f86b8a40da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</p:sldMasterIdLst>
  <p:sldIdLst>
    <p:sldId id="256" r:id="rIdSlide1"/>
  </p:sldIdLst>
  <p:sldSz cx="12191695" cy="6858000" type="screen16x9"/>
  <p:notesSz cx="6858000" cy="9144000"/>
  <p:defaultTextStyle>
    <a:defPPr>
      <a:defRPr lang="en-US"/>
    </a:defPPr>
  </p:defaultTextStyle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theme" Target="/ppt/slideMasters/theme/theme1.xml" Id="rIdTheme1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  <p:txStyles>
    <p:titleStyle>
      <a:lvl1pPr algn="l">
        <a:defRPr sz="3200" kern="1200">
          <a:solidFill>
            <a:schemeClr val="tx1"/>
          </a:solidFill>
          <a:latin typeface="Microsoft JhengHei"/>
          <a:ea typeface="Microsoft JhengHei"/>
          <a:cs typeface="Microsoft JhengHei"/>
        </a:defRPr>
      </a:lvl1pPr>
    </p:titleStyle>
    <p:bodyStyle>
      <a:lvl1pPr marL="0" indent="0" algn="l">
        <a:defRPr sz="1800" kern="1200">
          <a:solidFill>
            <a:schemeClr val="tx1"/>
          </a:solidFill>
          <a:latin typeface="Microsoft JhengHei"/>
          <a:ea typeface="Microsoft JhengHei"/>
          <a:cs typeface="Microsoft JhengHei"/>
        </a:defRPr>
      </a:lvl1pPr>
    </p:bodyStyle>
    <p:otherStyle>
      <a:lvl1pPr marL="0" indent="0" algn="l">
        <a:defRPr sz="1800" kern="1200">
          <a:solidFill>
            <a:schemeClr val="tx1"/>
          </a:solidFill>
          <a:latin typeface="Microsoft JhengHei"/>
          <a:ea typeface="Microsoft JhengHei"/>
          <a:cs typeface="Microsoft JhengHei"/>
        </a:defRPr>
      </a:lvl1pPr>
    </p:otherStyle>
  </p:txStyles>
</p:sldMaster>
</file>

<file path=ppt/slideMasters/theme/theme1.xml><?xml version="1.0" encoding="utf-8"?>
<a:theme xmlns:a="http://schemas.openxmlformats.org/drawingml/2006/main" name="Mermaid2Pptx">
  <a:themeElements>
    <a:clrScheme name="Mermaid2Pptx">
      <a:dk1>
        <a:srgbClr val="111111"/>
      </a:dk1>
      <a:lt1>
        <a:srgbClr val="FFFFFF"/>
      </a:lt1>
      <a:dk2>
        <a:srgbClr val="444444"/>
      </a:dk2>
      <a:lt2>
        <a:srgbClr val="EEEEEE"/>
      </a:lt2>
      <a:accent1>
        <a:srgbClr val="2563EB"/>
      </a:accent1>
      <a:accent2>
        <a:srgbClr val="16A34A"/>
      </a:accent2>
      <a:accent3>
        <a:srgbClr val="DC2626"/>
      </a:accent3>
      <a:accent4>
        <a:srgbClr val="F59E0B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Mermaid2Pptx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rmaid2Ppt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Mermaid Edge 2"/>
          <p:cNvSpPr/>
          <p:nvPr/>
        </p:nvSpPr>
        <p:spPr>
          <a:xfrm>
            <a:off x="1998195" y="3383365"/>
            <a:ext cx="240330" cy="1"/>
          </a:xfrm>
          <a:custGeom>
            <a:avLst/>
            <a:gdLst/>
            <a:ahLst/>
            <a:cxnLst/>
            <a:rect l="0" t="0" r="240330" b="1"/>
            <a:pathLst>
              <a:path w="240330" h="1">
                <a:moveTo>
                  <a:pt x="0" y="0"/>
                </a:moveTo>
                <a:lnTo>
                  <a:pt x="21766" y="0"/>
                </a:lnTo>
                <a:cubicBezTo>
                  <a:pt x="43537" y="0"/>
                  <a:pt x="87073" y="0"/>
                  <a:pt x="127130" y="0"/>
                </a:cubicBezTo>
                <a:cubicBezTo>
                  <a:pt x="167186" y="0"/>
                  <a:pt x="203758" y="0"/>
                  <a:pt x="222044" y="0"/>
                </a:cubicBezTo>
                <a:lnTo>
                  <a:pt x="240330" y="0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3" name="Mermaid Edge 3"/>
          <p:cNvSpPr/>
          <p:nvPr/>
        </p:nvSpPr>
        <p:spPr>
          <a:xfrm>
            <a:off x="3074456" y="3383365"/>
            <a:ext cx="240331" cy="1"/>
          </a:xfrm>
          <a:custGeom>
            <a:avLst/>
            <a:gdLst/>
            <a:ahLst/>
            <a:cxnLst/>
            <a:rect l="0" t="0" r="240331" b="1"/>
            <a:pathLst>
              <a:path w="240331" h="1">
                <a:moveTo>
                  <a:pt x="0" y="0"/>
                </a:moveTo>
                <a:lnTo>
                  <a:pt x="21766" y="0"/>
                </a:lnTo>
                <a:cubicBezTo>
                  <a:pt x="43537" y="0"/>
                  <a:pt x="87073" y="0"/>
                  <a:pt x="127130" y="0"/>
                </a:cubicBezTo>
                <a:cubicBezTo>
                  <a:pt x="167187" y="0"/>
                  <a:pt x="203759" y="0"/>
                  <a:pt x="222045" y="0"/>
                </a:cubicBezTo>
                <a:lnTo>
                  <a:pt x="240331" y="0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4" name="Mermaid Edge 4"/>
          <p:cNvSpPr/>
          <p:nvPr/>
        </p:nvSpPr>
        <p:spPr>
          <a:xfrm>
            <a:off x="4694073" y="3383365"/>
            <a:ext cx="240330" cy="1"/>
          </a:xfrm>
          <a:custGeom>
            <a:avLst/>
            <a:gdLst/>
            <a:ahLst/>
            <a:cxnLst/>
            <a:rect l="0" t="0" r="240330" b="1"/>
            <a:pathLst>
              <a:path w="240330" h="1">
                <a:moveTo>
                  <a:pt x="0" y="0"/>
                </a:moveTo>
                <a:lnTo>
                  <a:pt x="21765" y="0"/>
                </a:lnTo>
                <a:cubicBezTo>
                  <a:pt x="43536" y="0"/>
                  <a:pt x="87072" y="0"/>
                  <a:pt x="127129" y="0"/>
                </a:cubicBezTo>
                <a:cubicBezTo>
                  <a:pt x="167186" y="0"/>
                  <a:pt x="203758" y="0"/>
                  <a:pt x="222044" y="0"/>
                </a:cubicBezTo>
                <a:lnTo>
                  <a:pt x="240330" y="0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5" name="Mermaid Edge 5"/>
          <p:cNvSpPr/>
          <p:nvPr/>
        </p:nvSpPr>
        <p:spPr>
          <a:xfrm>
            <a:off x="6085636" y="3080340"/>
            <a:ext cx="652507" cy="99267"/>
          </a:xfrm>
          <a:custGeom>
            <a:avLst/>
            <a:gdLst/>
            <a:ahLst/>
            <a:cxnLst/>
            <a:rect l="0" t="0" r="652507" b="99267"/>
            <a:pathLst>
              <a:path w="652507" h="99267">
                <a:moveTo>
                  <a:pt x="0" y="99267"/>
                </a:moveTo>
                <a:lnTo>
                  <a:pt x="41165" y="82721"/>
                </a:lnTo>
                <a:cubicBezTo>
                  <a:pt x="82329" y="66180"/>
                  <a:pt x="164658" y="33087"/>
                  <a:pt x="273413" y="16546"/>
                </a:cubicBezTo>
                <a:cubicBezTo>
                  <a:pt x="382162" y="0"/>
                  <a:pt x="517337" y="0"/>
                  <a:pt x="584922" y="0"/>
                </a:cubicBezTo>
                <a:lnTo>
                  <a:pt x="652507" y="0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6" name="Mermaid Edge 6"/>
          <p:cNvSpPr/>
          <p:nvPr/>
        </p:nvSpPr>
        <p:spPr>
          <a:xfrm>
            <a:off x="6085636" y="3587123"/>
            <a:ext cx="356708" cy="99267"/>
          </a:xfrm>
          <a:custGeom>
            <a:avLst/>
            <a:gdLst/>
            <a:ahLst/>
            <a:cxnLst/>
            <a:rect l="0" t="0" r="356708" b="99267"/>
            <a:pathLst>
              <a:path w="356708" h="99267">
                <a:moveTo>
                  <a:pt x="0" y="0"/>
                </a:moveTo>
                <a:lnTo>
                  <a:pt x="41165" y="16546"/>
                </a:lnTo>
                <a:cubicBezTo>
                  <a:pt x="82329" y="33087"/>
                  <a:pt x="164658" y="66180"/>
                  <a:pt x="224113" y="82721"/>
                </a:cubicBezTo>
                <a:cubicBezTo>
                  <a:pt x="283564" y="99267"/>
                  <a:pt x="320136" y="99267"/>
                  <a:pt x="338422" y="99267"/>
                </a:cubicBezTo>
                <a:lnTo>
                  <a:pt x="356708" y="99267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7" name="Mermaid Edge 7"/>
          <p:cNvSpPr/>
          <p:nvPr/>
        </p:nvSpPr>
        <p:spPr>
          <a:xfrm>
            <a:off x="7734609" y="3686390"/>
            <a:ext cx="240331" cy="1"/>
          </a:xfrm>
          <a:custGeom>
            <a:avLst/>
            <a:gdLst/>
            <a:ahLst/>
            <a:cxnLst/>
            <a:rect l="0" t="0" r="240331" b="1"/>
            <a:pathLst>
              <a:path w="240331" h="1">
                <a:moveTo>
                  <a:pt x="0" y="0"/>
                </a:moveTo>
                <a:lnTo>
                  <a:pt x="21766" y="0"/>
                </a:lnTo>
                <a:cubicBezTo>
                  <a:pt x="43537" y="0"/>
                  <a:pt x="87073" y="0"/>
                  <a:pt x="127130" y="0"/>
                </a:cubicBezTo>
                <a:cubicBezTo>
                  <a:pt x="167187" y="0"/>
                  <a:pt x="203759" y="0"/>
                  <a:pt x="222045" y="0"/>
                </a:cubicBezTo>
                <a:lnTo>
                  <a:pt x="240331" y="0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8" name="Mermaid Edge 8"/>
          <p:cNvSpPr/>
          <p:nvPr/>
        </p:nvSpPr>
        <p:spPr>
          <a:xfrm>
            <a:off x="8507360" y="3174382"/>
            <a:ext cx="487635" cy="370945"/>
          </a:xfrm>
          <a:custGeom>
            <a:avLst/>
            <a:gdLst/>
            <a:ahLst/>
            <a:cxnLst/>
            <a:rect l="0" t="0" r="487635" b="370945"/>
            <a:pathLst>
              <a:path w="487635" h="370945">
                <a:moveTo>
                  <a:pt x="0" y="370945"/>
                </a:moveTo>
                <a:lnTo>
                  <a:pt x="60788" y="309122"/>
                </a:lnTo>
                <a:cubicBezTo>
                  <a:pt x="121575" y="247295"/>
                  <a:pt x="243156" y="123650"/>
                  <a:pt x="324430" y="61823"/>
                </a:cubicBezTo>
                <a:cubicBezTo>
                  <a:pt x="405698" y="0"/>
                  <a:pt x="446669" y="0"/>
                  <a:pt x="467149" y="0"/>
                </a:cubicBezTo>
                <a:lnTo>
                  <a:pt x="487635" y="0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9" name="Mermaid Edge 9"/>
          <p:cNvSpPr/>
          <p:nvPr/>
        </p:nvSpPr>
        <p:spPr>
          <a:xfrm>
            <a:off x="9628374" y="2599680"/>
            <a:ext cx="802149" cy="433639"/>
          </a:xfrm>
          <a:custGeom>
            <a:avLst/>
            <a:gdLst/>
            <a:ahLst/>
            <a:cxnLst/>
            <a:rect l="0" t="0" r="802149" b="433639"/>
            <a:pathLst>
              <a:path w="802149" h="433639">
                <a:moveTo>
                  <a:pt x="0" y="433639"/>
                </a:moveTo>
                <a:lnTo>
                  <a:pt x="76368" y="361368"/>
                </a:lnTo>
                <a:cubicBezTo>
                  <a:pt x="152730" y="289091"/>
                  <a:pt x="305460" y="144548"/>
                  <a:pt x="439152" y="72271"/>
                </a:cubicBezTo>
                <a:cubicBezTo>
                  <a:pt x="572843" y="0"/>
                  <a:pt x="687496" y="0"/>
                  <a:pt x="744825" y="0"/>
                </a:cubicBezTo>
                <a:lnTo>
                  <a:pt x="802149" y="0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10" name="Mermaid Edge 10"/>
          <p:cNvSpPr/>
          <p:nvPr/>
        </p:nvSpPr>
        <p:spPr>
          <a:xfrm>
            <a:off x="9942763" y="3143035"/>
            <a:ext cx="322371" cy="7424"/>
          </a:xfrm>
          <a:custGeom>
            <a:avLst/>
            <a:gdLst/>
            <a:ahLst/>
            <a:cxnLst/>
            <a:rect l="0" t="0" r="322371" b="7424"/>
            <a:pathLst>
              <a:path w="322371" h="7424">
                <a:moveTo>
                  <a:pt x="0" y="7424"/>
                </a:moveTo>
                <a:lnTo>
                  <a:pt x="23965" y="6186"/>
                </a:lnTo>
                <a:cubicBezTo>
                  <a:pt x="47930" y="4948"/>
                  <a:pt x="95866" y="2476"/>
                  <a:pt x="149595" y="1238"/>
                </a:cubicBezTo>
                <a:cubicBezTo>
                  <a:pt x="203324" y="0"/>
                  <a:pt x="262848" y="0"/>
                  <a:pt x="292607" y="0"/>
                </a:cubicBezTo>
                <a:lnTo>
                  <a:pt x="322371" y="0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11" name="Mermaid Edge 11"/>
          <p:cNvSpPr/>
          <p:nvPr/>
        </p:nvSpPr>
        <p:spPr>
          <a:xfrm>
            <a:off x="9646624" y="3315446"/>
            <a:ext cx="549651" cy="370944"/>
          </a:xfrm>
          <a:custGeom>
            <a:avLst/>
            <a:gdLst/>
            <a:ahLst/>
            <a:cxnLst/>
            <a:rect l="0" t="0" r="549651" b="370944"/>
            <a:pathLst>
              <a:path w="549651" h="370944">
                <a:moveTo>
                  <a:pt x="0" y="0"/>
                </a:moveTo>
                <a:lnTo>
                  <a:pt x="73327" y="61822"/>
                </a:lnTo>
                <a:cubicBezTo>
                  <a:pt x="146648" y="123650"/>
                  <a:pt x="293292" y="247294"/>
                  <a:pt x="384899" y="309122"/>
                </a:cubicBezTo>
                <a:cubicBezTo>
                  <a:pt x="476507" y="370944"/>
                  <a:pt x="513079" y="370944"/>
                  <a:pt x="531365" y="370944"/>
                </a:cubicBezTo>
                <a:lnTo>
                  <a:pt x="549651" y="370944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12" name="Mermaid Edge 12"/>
          <p:cNvSpPr/>
          <p:nvPr/>
        </p:nvSpPr>
        <p:spPr>
          <a:xfrm>
            <a:off x="8499356" y="3827453"/>
            <a:ext cx="482452" cy="402292"/>
          </a:xfrm>
          <a:custGeom>
            <a:avLst/>
            <a:gdLst/>
            <a:ahLst/>
            <a:cxnLst/>
            <a:rect l="0" t="0" r="482452" b="402292"/>
            <a:pathLst>
              <a:path w="482452" h="402292">
                <a:moveTo>
                  <a:pt x="0" y="0"/>
                </a:moveTo>
                <a:lnTo>
                  <a:pt x="62125" y="67047"/>
                </a:lnTo>
                <a:cubicBezTo>
                  <a:pt x="124245" y="134099"/>
                  <a:pt x="248491" y="268193"/>
                  <a:pt x="328902" y="335245"/>
                </a:cubicBezTo>
                <a:cubicBezTo>
                  <a:pt x="409308" y="402292"/>
                  <a:pt x="445880" y="402292"/>
                  <a:pt x="464166" y="402292"/>
                </a:cubicBezTo>
                <a:lnTo>
                  <a:pt x="482452" y="402292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13" name="Mermaid Edge 13"/>
          <p:cNvSpPr/>
          <p:nvPr/>
        </p:nvSpPr>
        <p:spPr>
          <a:xfrm>
            <a:off x="9869692" y="4036436"/>
            <a:ext cx="588893" cy="87904"/>
          </a:xfrm>
          <a:custGeom>
            <a:avLst/>
            <a:gdLst/>
            <a:ahLst/>
            <a:cxnLst/>
            <a:rect l="0" t="0" r="588893" b="87904"/>
            <a:pathLst>
              <a:path w="588893" h="87904">
                <a:moveTo>
                  <a:pt x="0" y="52246"/>
                </a:moveTo>
                <a:lnTo>
                  <a:pt x="36144" y="39184"/>
                </a:lnTo>
                <a:cubicBezTo>
                  <a:pt x="72287" y="26123"/>
                  <a:pt x="144580" y="0"/>
                  <a:pt x="242728" y="5940"/>
                </a:cubicBezTo>
                <a:cubicBezTo>
                  <a:pt x="340877" y="11886"/>
                  <a:pt x="464887" y="49895"/>
                  <a:pt x="526887" y="68897"/>
                </a:cubicBezTo>
                <a:lnTo>
                  <a:pt x="588893" y="87904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14" name="Mermaid Edge 14"/>
          <p:cNvSpPr/>
          <p:nvPr/>
        </p:nvSpPr>
        <p:spPr>
          <a:xfrm>
            <a:off x="9976770" y="4253386"/>
            <a:ext cx="501799" cy="25454"/>
          </a:xfrm>
          <a:custGeom>
            <a:avLst/>
            <a:gdLst/>
            <a:ahLst/>
            <a:cxnLst/>
            <a:rect l="0" t="0" r="501799" b="25454"/>
            <a:pathLst>
              <a:path w="501799" h="25454">
                <a:moveTo>
                  <a:pt x="501799" y="0"/>
                </a:moveTo>
                <a:lnTo>
                  <a:pt x="436460" y="4765"/>
                </a:lnTo>
                <a:cubicBezTo>
                  <a:pt x="371127" y="9535"/>
                  <a:pt x="240460" y="19070"/>
                  <a:pt x="156825" y="22262"/>
                </a:cubicBezTo>
                <a:cubicBezTo>
                  <a:pt x="73191" y="25454"/>
                  <a:pt x="36598" y="22309"/>
                  <a:pt x="18296" y="20731"/>
                </a:cubicBezTo>
                <a:lnTo>
                  <a:pt x="0" y="19159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15" name="Rect 15"/>
          <p:cNvSpPr/>
          <p:nvPr/>
        </p:nvSpPr>
        <p:spPr>
          <a:xfrm>
            <a:off x="803890" y="3242302"/>
            <a:ext cx="1194304" cy="282126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960627" y="3320670"/>
            <a:ext cx="880830" cy="125390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工業相機 / USB Camera</a:t>
            </a:r>
            <a:endParaRPr lang="en-US" sz="1200"/>
          </a:p>
        </p:txBody>
      </p:sp>
      <p:sp>
        <p:nvSpPr>
          <p:cNvPr id="17" name="Rect 17"/>
          <p:cNvSpPr/>
          <p:nvPr/>
        </p:nvSpPr>
        <p:spPr>
          <a:xfrm>
            <a:off x="2259422" y="3242302"/>
            <a:ext cx="815033" cy="282126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2416159" y="3320670"/>
            <a:ext cx="501559" cy="125390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影像擷取模組</a:t>
            </a:r>
            <a:endParaRPr lang="en-US" sz="1200"/>
          </a:p>
        </p:txBody>
      </p:sp>
      <p:sp>
        <p:nvSpPr>
          <p:cNvPr id="19" name="Rect 19"/>
          <p:cNvSpPr/>
          <p:nvPr/>
        </p:nvSpPr>
        <p:spPr>
          <a:xfrm>
            <a:off x="3335683" y="3116912"/>
            <a:ext cx="1358388" cy="532906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3313323" y="3195281"/>
            <a:ext cx="1403110" cy="376169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影像前處理</a:t>
            </a:r>
            <a:endParaRPr lang="en-US" sz="1200"/>
          </a:p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Resize / Normalize / Letterbox</a:t>
            </a:r>
            <a:endParaRPr lang="en-US" sz="1200"/>
          </a:p>
        </p:txBody>
      </p:sp>
      <p:sp>
        <p:nvSpPr>
          <p:cNvPr id="21" name="Rect 21"/>
          <p:cNvSpPr/>
          <p:nvPr/>
        </p:nvSpPr>
        <p:spPr>
          <a:xfrm>
            <a:off x="4955300" y="3179607"/>
            <a:ext cx="1246712" cy="407516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5066858" y="3257975"/>
            <a:ext cx="1023597" cy="250780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ncnn + Vulkan</a:t>
            </a:r>
            <a:endParaRPr lang="en-US" sz="1200"/>
          </a:p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YOLO Segmentation 推論</a:t>
            </a:r>
            <a:endParaRPr lang="en-US" sz="1200"/>
          </a:p>
        </p:txBody>
      </p:sp>
      <p:sp>
        <p:nvSpPr>
          <p:cNvPr id="23" name="Rect 23"/>
          <p:cNvSpPr/>
          <p:nvPr/>
        </p:nvSpPr>
        <p:spPr>
          <a:xfrm>
            <a:off x="6759041" y="2939277"/>
            <a:ext cx="679765" cy="282126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24" name="Text 24"/>
          <p:cNvSpPr txBox="1"/>
          <p:nvPr/>
        </p:nvSpPr>
        <p:spPr>
          <a:xfrm>
            <a:off x="6875939" y="3017645"/>
            <a:ext cx="445969" cy="125390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AMD iGPU</a:t>
            </a:r>
            <a:endParaRPr lang="en-US" sz="1200"/>
          </a:p>
        </p:txBody>
      </p:sp>
      <p:sp>
        <p:nvSpPr>
          <p:cNvPr id="25" name="Rect 25"/>
          <p:cNvSpPr/>
          <p:nvPr/>
        </p:nvSpPr>
        <p:spPr>
          <a:xfrm>
            <a:off x="6463241" y="3482632"/>
            <a:ext cx="1271366" cy="407516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26" name="Text 26"/>
          <p:cNvSpPr txBox="1"/>
          <p:nvPr/>
        </p:nvSpPr>
        <p:spPr>
          <a:xfrm>
            <a:off x="6583782" y="3561000"/>
            <a:ext cx="1030285" cy="250780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後處理</a:t>
            </a:r>
            <a:endParaRPr lang="en-US" sz="1200"/>
          </a:p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NMS / Mask / OK-NG 判定</a:t>
            </a:r>
            <a:endParaRPr lang="en-US" sz="1200"/>
          </a:p>
        </p:txBody>
      </p:sp>
      <p:sp>
        <p:nvSpPr>
          <p:cNvPr id="27" name="Rect 27"/>
          <p:cNvSpPr/>
          <p:nvPr/>
        </p:nvSpPr>
        <p:spPr>
          <a:xfrm>
            <a:off x="7995835" y="3545327"/>
            <a:ext cx="745644" cy="282126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28" name="Text 28"/>
          <p:cNvSpPr txBox="1"/>
          <p:nvPr/>
        </p:nvSpPr>
        <p:spPr>
          <a:xfrm>
            <a:off x="8152572" y="3623695"/>
            <a:ext cx="432170" cy="125390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AI 決策邏輯</a:t>
            </a:r>
            <a:endParaRPr lang="en-US" sz="1200"/>
          </a:p>
        </p:txBody>
      </p:sp>
      <p:sp>
        <p:nvSpPr>
          <p:cNvPr id="29" name="Rect 29"/>
          <p:cNvSpPr/>
          <p:nvPr/>
        </p:nvSpPr>
        <p:spPr>
          <a:xfrm>
            <a:off x="9015891" y="3033319"/>
            <a:ext cx="926872" cy="282127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30" name="Text 30"/>
          <p:cNvSpPr txBox="1"/>
          <p:nvPr/>
        </p:nvSpPr>
        <p:spPr>
          <a:xfrm>
            <a:off x="9078290" y="3111688"/>
            <a:ext cx="802076" cy="125389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EtherCAT Master</a:t>
            </a:r>
            <a:endParaRPr lang="en-US" sz="1200"/>
          </a:p>
        </p:txBody>
      </p:sp>
      <p:sp>
        <p:nvSpPr>
          <p:cNvPr id="31" name="Rect 31"/>
          <p:cNvSpPr/>
          <p:nvPr/>
        </p:nvSpPr>
        <p:spPr>
          <a:xfrm>
            <a:off x="10451423" y="2458616"/>
            <a:ext cx="702133" cy="282127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32" name="Text 32"/>
          <p:cNvSpPr txBox="1"/>
          <p:nvPr/>
        </p:nvSpPr>
        <p:spPr>
          <a:xfrm>
            <a:off x="10543560" y="2536985"/>
            <a:ext cx="517859" cy="125390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Remote IO</a:t>
            </a:r>
            <a:endParaRPr lang="en-US" sz="1200"/>
          </a:p>
        </p:txBody>
      </p:sp>
      <p:sp>
        <p:nvSpPr>
          <p:cNvPr id="33" name="Rect 33"/>
          <p:cNvSpPr/>
          <p:nvPr/>
        </p:nvSpPr>
        <p:spPr>
          <a:xfrm>
            <a:off x="10286033" y="3001972"/>
            <a:ext cx="1032914" cy="282126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34" name="Text 34"/>
          <p:cNvSpPr txBox="1"/>
          <p:nvPr/>
        </p:nvSpPr>
        <p:spPr>
          <a:xfrm>
            <a:off x="10357148" y="3080340"/>
            <a:ext cx="890684" cy="125390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Servo / Motion Axis</a:t>
            </a:r>
            <a:endParaRPr lang="en-US" sz="1200"/>
          </a:p>
        </p:txBody>
      </p:sp>
      <p:sp>
        <p:nvSpPr>
          <p:cNvPr id="35" name="Rect 35"/>
          <p:cNvSpPr/>
          <p:nvPr/>
        </p:nvSpPr>
        <p:spPr>
          <a:xfrm>
            <a:off x="10217175" y="3545327"/>
            <a:ext cx="1170630" cy="282126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36" name="Text 36"/>
          <p:cNvSpPr txBox="1"/>
          <p:nvPr/>
        </p:nvSpPr>
        <p:spPr>
          <a:xfrm>
            <a:off x="10373912" y="3623695"/>
            <a:ext cx="857156" cy="125390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氣缸 / 馬達 / 分揀機構</a:t>
            </a:r>
            <a:endParaRPr lang="en-US" sz="1200"/>
          </a:p>
        </p:txBody>
      </p:sp>
      <p:sp>
        <p:nvSpPr>
          <p:cNvPr id="37" name="Rect 37"/>
          <p:cNvSpPr/>
          <p:nvPr/>
        </p:nvSpPr>
        <p:spPr>
          <a:xfrm>
            <a:off x="9002708" y="4088682"/>
            <a:ext cx="953238" cy="282127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38" name="Text 38"/>
          <p:cNvSpPr txBox="1"/>
          <p:nvPr/>
        </p:nvSpPr>
        <p:spPr>
          <a:xfrm>
            <a:off x="9078289" y="4167050"/>
            <a:ext cx="802076" cy="125390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PySide6 / QML UI</a:t>
            </a:r>
            <a:endParaRPr lang="en-US" sz="1200"/>
          </a:p>
        </p:txBody>
      </p:sp>
      <p:sp>
        <p:nvSpPr>
          <p:cNvPr id="39" name="Rect 39"/>
          <p:cNvSpPr/>
          <p:nvPr/>
        </p:nvSpPr>
        <p:spPr>
          <a:xfrm>
            <a:off x="10478567" y="4088682"/>
            <a:ext cx="647846" cy="282127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40" name="Text 40"/>
          <p:cNvSpPr txBox="1"/>
          <p:nvPr/>
        </p:nvSpPr>
        <p:spPr>
          <a:xfrm>
            <a:off x="10635304" y="4167050"/>
            <a:ext cx="334372" cy="125390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操作人員</a:t>
            </a:r>
            <a:endParaRPr lang="en-US" sz="1200"/>
          </a:p>
        </p:txBody>
      </p:sp>
    </p:spTree>
  </p:cSld>
  <p:clrMapOvr>
    <a:masterClrMapping/>
  </p:clrMapOvr>
</p:sld>
</file>